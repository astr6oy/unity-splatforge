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5815a4f4114f93" /><Relationship Type="http://schemas.openxmlformats.org/officeDocument/2006/relationships/extended-properties" Target="/docProps/app.xml" Id="R34efba4e88474b20" /><Relationship Type="http://schemas.openxmlformats.org/officeDocument/2006/relationships/officeDocument" Target="/ppt/presentation.xml" Id="Rcc32cdbd718e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ea1afb1344c92"/>
  </p:sldMasterIdLst>
  <p:notesMasterIdLst>
    <p:notesMasterId xmlns:r="http://schemas.openxmlformats.org/officeDocument/2006/relationships" r:id="R8e049a25058b4762"/>
  </p:notesMasterIdLst>
  <p:sldIdLst>
    <p:sldId xmlns:r="http://schemas.openxmlformats.org/officeDocument/2006/relationships" id="256" r:id="R8dd8a44781a44ab9"/>
    <p:sldId xmlns:r="http://schemas.openxmlformats.org/officeDocument/2006/relationships" id="257" r:id="Rfb4445926e174ed8"/>
    <p:sldId xmlns:r="http://schemas.openxmlformats.org/officeDocument/2006/relationships" id="258" r:id="R06991094de0a4c98"/>
    <p:sldId xmlns:r="http://schemas.openxmlformats.org/officeDocument/2006/relationships" id="259" r:id="R794386df23c142bb"/>
    <p:sldId xmlns:r="http://schemas.openxmlformats.org/officeDocument/2006/relationships" id="260" r:id="Rc3d9d84747514a77"/>
    <p:sldId xmlns:r="http://schemas.openxmlformats.org/officeDocument/2006/relationships" id="261" r:id="R998b2d9389974b62"/>
    <p:sldId xmlns:r="http://schemas.openxmlformats.org/officeDocument/2006/relationships" id="262" r:id="R78d6ad8030a449ad"/>
    <p:sldId xmlns:r="http://schemas.openxmlformats.org/officeDocument/2006/relationships" id="263" r:id="R4adad90044504cbf"/>
    <p:sldId xmlns:r="http://schemas.openxmlformats.org/officeDocument/2006/relationships" id="264" r:id="Re56379ea20394d39"/>
    <p:sldId xmlns:r="http://schemas.openxmlformats.org/officeDocument/2006/relationships" id="265" r:id="R9ae32c8e06d042a0"/>
    <p:sldId xmlns:r="http://schemas.openxmlformats.org/officeDocument/2006/relationships" id="266" r:id="R7798200b72054d63"/>
    <p:sldId xmlns:r="http://schemas.openxmlformats.org/officeDocument/2006/relationships" id="267" r:id="R82f79ba8e0dd4b91"/>
    <p:sldId xmlns:r="http://schemas.openxmlformats.org/officeDocument/2006/relationships" id="268" r:id="R73232a3514874668"/>
    <p:sldId xmlns:r="http://schemas.openxmlformats.org/officeDocument/2006/relationships" id="269" r:id="R05158d58fd8c4092"/>
    <p:sldId xmlns:r="http://schemas.openxmlformats.org/officeDocument/2006/relationships" id="270" r:id="R27bc38a67ac64ec8"/>
    <p:sldId xmlns:r="http://schemas.openxmlformats.org/officeDocument/2006/relationships" id="271" r:id="R52a733bf86ef45ec"/>
    <p:sldId xmlns:r="http://schemas.openxmlformats.org/officeDocument/2006/relationships" id="272" r:id="R30a3ccabdfc04fd6"/>
    <p:sldId xmlns:r="http://schemas.openxmlformats.org/officeDocument/2006/relationships" id="273" r:id="R686771715a0d4f01"/>
    <p:sldId xmlns:r="http://schemas.openxmlformats.org/officeDocument/2006/relationships" id="274" r:id="R5f7f23fda1e94a1f"/>
    <p:sldId xmlns:r="http://schemas.openxmlformats.org/officeDocument/2006/relationships" id="275" r:id="R04de991870d84319"/>
    <p:sldId xmlns:r="http://schemas.openxmlformats.org/officeDocument/2006/relationships" id="276" r:id="Rb3724a7c146c4b23"/>
    <p:sldId xmlns:r="http://schemas.openxmlformats.org/officeDocument/2006/relationships" id="277" r:id="Rbfd2355be65e460b"/>
    <p:sldId xmlns:r="http://schemas.openxmlformats.org/officeDocument/2006/relationships" id="278" r:id="R9d737f3c7b1e44ed"/>
    <p:sldId xmlns:r="http://schemas.openxmlformats.org/officeDocument/2006/relationships" id="279" r:id="R40e35ba7899a45f5"/>
    <p:sldId xmlns:r="http://schemas.openxmlformats.org/officeDocument/2006/relationships" id="280" r:id="R16ba04b3c94e46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ea1afb1344c92" /><Relationship Type="http://schemas.openxmlformats.org/officeDocument/2006/relationships/theme" Target="/ppt/theme/theme1.xml" Id="R061d457c46714e49" /><Relationship Type="http://schemas.openxmlformats.org/officeDocument/2006/relationships/notesMaster" Target="/ppt/notesMasters/notesMaster1.xml" Id="R8e049a25058b4762" /><Relationship Type="http://schemas.openxmlformats.org/officeDocument/2006/relationships/presProps" Target="/ppt/presProps.xml" Id="R574cc0a1125c41d8" /><Relationship Type="http://schemas.openxmlformats.org/officeDocument/2006/relationships/viewProps" Target="/ppt/viewProps.xml" Id="Rbb2cc6bdc4a64cba" /><Relationship Type="http://schemas.openxmlformats.org/officeDocument/2006/relationships/tableStyles" Target="/ppt/tableStyles.xml" Id="R790ab0af061d4ad1" /><Relationship Type="http://schemas.openxmlformats.org/officeDocument/2006/relationships/slide" Target="/ppt/slides/slide1.xml" Id="R8dd8a44781a44ab9" /><Relationship Type="http://schemas.openxmlformats.org/officeDocument/2006/relationships/slide" Target="/ppt/slides/slide2.xml" Id="Rfb4445926e174ed8" /><Relationship Type="http://schemas.openxmlformats.org/officeDocument/2006/relationships/slide" Target="/ppt/slides/slide3.xml" Id="R06991094de0a4c98" /><Relationship Type="http://schemas.openxmlformats.org/officeDocument/2006/relationships/slide" Target="/ppt/slides/slide4.xml" Id="R794386df23c142bb" /><Relationship Type="http://schemas.openxmlformats.org/officeDocument/2006/relationships/slide" Target="/ppt/slides/slide5.xml" Id="Rc3d9d84747514a77" /><Relationship Type="http://schemas.openxmlformats.org/officeDocument/2006/relationships/slide" Target="/ppt/slides/slide6.xml" Id="R998b2d9389974b62" /><Relationship Type="http://schemas.openxmlformats.org/officeDocument/2006/relationships/slide" Target="/ppt/slides/slide7.xml" Id="R78d6ad8030a449ad" /><Relationship Type="http://schemas.openxmlformats.org/officeDocument/2006/relationships/slide" Target="/ppt/slides/slide8.xml" Id="R4adad90044504cbf" /><Relationship Type="http://schemas.openxmlformats.org/officeDocument/2006/relationships/slide" Target="/ppt/slides/slide9.xml" Id="Re56379ea20394d39" /><Relationship Type="http://schemas.openxmlformats.org/officeDocument/2006/relationships/slide" Target="/ppt/slides/slide10.xml" Id="R9ae32c8e06d042a0" /><Relationship Type="http://schemas.openxmlformats.org/officeDocument/2006/relationships/slide" Target="/ppt/slides/slide11.xml" Id="R7798200b72054d63" /><Relationship Type="http://schemas.openxmlformats.org/officeDocument/2006/relationships/slide" Target="/ppt/slides/slide12.xml" Id="R82f79ba8e0dd4b91" /><Relationship Type="http://schemas.openxmlformats.org/officeDocument/2006/relationships/slide" Target="/ppt/slides/slide13.xml" Id="R73232a3514874668" /><Relationship Type="http://schemas.openxmlformats.org/officeDocument/2006/relationships/slide" Target="/ppt/slides/slide14.xml" Id="R05158d58fd8c4092" /><Relationship Type="http://schemas.openxmlformats.org/officeDocument/2006/relationships/slide" Target="/ppt/slides/slide15.xml" Id="R27bc38a67ac64ec8" /><Relationship Type="http://schemas.openxmlformats.org/officeDocument/2006/relationships/slide" Target="/ppt/slides/slide16.xml" Id="R52a733bf86ef45ec" /><Relationship Type="http://schemas.openxmlformats.org/officeDocument/2006/relationships/slide" Target="/ppt/slides/slide17.xml" Id="R30a3ccabdfc04fd6" /><Relationship Type="http://schemas.openxmlformats.org/officeDocument/2006/relationships/slide" Target="/ppt/slides/slide18.xml" Id="R686771715a0d4f01" /><Relationship Type="http://schemas.openxmlformats.org/officeDocument/2006/relationships/slide" Target="/ppt/slides/slide19.xml" Id="R5f7f23fda1e94a1f" /><Relationship Type="http://schemas.openxmlformats.org/officeDocument/2006/relationships/slide" Target="/ppt/slides/slide20.xml" Id="R04de991870d84319" /><Relationship Type="http://schemas.openxmlformats.org/officeDocument/2006/relationships/slide" Target="/ppt/slides/slide21.xml" Id="Rb3724a7c146c4b23" /><Relationship Type="http://schemas.openxmlformats.org/officeDocument/2006/relationships/slide" Target="/ppt/slides/slide22.xml" Id="Rbfd2355be65e460b" /><Relationship Type="http://schemas.openxmlformats.org/officeDocument/2006/relationships/slide" Target="/ppt/slides/slide23.xml" Id="R9d737f3c7b1e44ed" /><Relationship Type="http://schemas.openxmlformats.org/officeDocument/2006/relationships/slide" Target="/ppt/slides/slide24.xml" Id="R40e35ba7899a45f5" /><Relationship Type="http://schemas.openxmlformats.org/officeDocument/2006/relationships/slide" Target="/ppt/slides/slide25.xml" Id="R16ba04b3c94e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0e711ba06bb46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746b2347d94a1e" /><Relationship Type="http://schemas.openxmlformats.org/officeDocument/2006/relationships/notesMaster" Target="/ppt/notesMasters/notesMaster1.xml" Id="Ra196401b33f844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14c10778074306" /><Relationship Type="http://schemas.openxmlformats.org/officeDocument/2006/relationships/notesMaster" Target="/ppt/notesMasters/notesMaster1.xml" Id="R0482b7ab5b5d47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4e599f3ad8468c" /><Relationship Type="http://schemas.openxmlformats.org/officeDocument/2006/relationships/notesMaster" Target="/ppt/notesMasters/notesMaster1.xml" Id="Rae25c31b935745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d5de3961d74214" /><Relationship Type="http://schemas.openxmlformats.org/officeDocument/2006/relationships/notesMaster" Target="/ppt/notesMasters/notesMaster1.xml" Id="R65581d3adc064b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877fc5b84471d" /><Relationship Type="http://schemas.openxmlformats.org/officeDocument/2006/relationships/notesMaster" Target="/ppt/notesMasters/notesMaster1.xml" Id="Rf3ec88d2f9c8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1fa33940f4b95" /><Relationship Type="http://schemas.openxmlformats.org/officeDocument/2006/relationships/notesMaster" Target="/ppt/notesMasters/notesMaster1.xml" Id="Re59e148158ed4a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dd62784d1641b7" /><Relationship Type="http://schemas.openxmlformats.org/officeDocument/2006/relationships/notesMaster" Target="/ppt/notesMasters/notesMaster1.xml" Id="Raa492487c6474f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727e8107264f2d" /><Relationship Type="http://schemas.openxmlformats.org/officeDocument/2006/relationships/notesMaster" Target="/ppt/notesMasters/notesMaster1.xml" Id="R237aec9cda8f4b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fcb73f26484b09" /><Relationship Type="http://schemas.openxmlformats.org/officeDocument/2006/relationships/notesMaster" Target="/ppt/notesMasters/notesMaster1.xml" Id="R18759b819d1540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3facb4a9664403" /><Relationship Type="http://schemas.openxmlformats.org/officeDocument/2006/relationships/notesMaster" Target="/ppt/notesMasters/notesMaster1.xml" Id="R1eda09b274974c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33ba9bcd454b6b" /><Relationship Type="http://schemas.openxmlformats.org/officeDocument/2006/relationships/notesMaster" Target="/ppt/notesMasters/notesMaster1.xml" Id="Rff6e53364cff43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a11ee1142a460e" /><Relationship Type="http://schemas.openxmlformats.org/officeDocument/2006/relationships/notesMaster" Target="/ppt/notesMasters/notesMaster1.xml" Id="Rbea43e17182841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1a7f21d3db46d4" /><Relationship Type="http://schemas.openxmlformats.org/officeDocument/2006/relationships/notesMaster" Target="/ppt/notesMasters/notesMaster1.xml" Id="Rdd1ca0ab59e04f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2450c67faa45c7" /><Relationship Type="http://schemas.openxmlformats.org/officeDocument/2006/relationships/notesMaster" Target="/ppt/notesMasters/notesMaster1.xml" Id="Reaa3ad33f18742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c9b814a15f44eb" /><Relationship Type="http://schemas.openxmlformats.org/officeDocument/2006/relationships/notesMaster" Target="/ppt/notesMasters/notesMaster1.xml" Id="R0323b094adaf4e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62174c4d324edf" /><Relationship Type="http://schemas.openxmlformats.org/officeDocument/2006/relationships/notesMaster" Target="/ppt/notesMasters/notesMaster1.xml" Id="R5151a7dd7dc44a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585bd1ddf24175" /><Relationship Type="http://schemas.openxmlformats.org/officeDocument/2006/relationships/notesMaster" Target="/ppt/notesMasters/notesMaster1.xml" Id="Re049ac06759e40f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dcd28954a5474c" /><Relationship Type="http://schemas.openxmlformats.org/officeDocument/2006/relationships/notesMaster" Target="/ppt/notesMasters/notesMaster1.xml" Id="Rd5b7aa65eb1c4b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49a100936a4671" /><Relationship Type="http://schemas.openxmlformats.org/officeDocument/2006/relationships/notesMaster" Target="/ppt/notesMasters/notesMaster1.xml" Id="R9435c9f31f864b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66eba3b8cf4fde" /><Relationship Type="http://schemas.openxmlformats.org/officeDocument/2006/relationships/notesMaster" Target="/ppt/notesMasters/notesMaster1.xml" Id="R8d9c8697048a4f3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09a83f7b6746ac" /><Relationship Type="http://schemas.openxmlformats.org/officeDocument/2006/relationships/notesMaster" Target="/ppt/notesMasters/notesMaster1.xml" Id="R9851e28305dc45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e2c291aa674550" /><Relationship Type="http://schemas.openxmlformats.org/officeDocument/2006/relationships/notesMaster" Target="/ppt/notesMasters/notesMaster1.xml" Id="R50b963ce768447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248da655ce46ee" /><Relationship Type="http://schemas.openxmlformats.org/officeDocument/2006/relationships/notesMaster" Target="/ppt/notesMasters/notesMaster1.xml" Id="Rd991f3808b614d8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97d71e178f4991" /><Relationship Type="http://schemas.openxmlformats.org/officeDocument/2006/relationships/notesMaster" Target="/ppt/notesMasters/notesMaster1.xml" Id="R5336b0ba74084b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24804e95224089" /><Relationship Type="http://schemas.openxmlformats.org/officeDocument/2006/relationships/notesMaster" Target="/ppt/notesMasters/notesMaster1.xml" Id="Rd1b65a6fb1ec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0d529375e401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17f1bbc515d4d79" /><Relationship Type="http://schemas.openxmlformats.org/officeDocument/2006/relationships/slideLayout" Target="/ppt/slideLayouts/slideLayout2.xml" Id="R7713ae887b19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13ae887b19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1974fa944a49d9" /><Relationship Type="http://schemas.openxmlformats.org/officeDocument/2006/relationships/notesSlide" Target="/ppt/notesSlides/notesSlide1.xml" Id="R16d41215f5f1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5fbda0f4354fa4" /><Relationship Type="http://schemas.openxmlformats.org/officeDocument/2006/relationships/notesSlide" Target="/ppt/notesSlides/notesSlide2.xml" Id="Re5c4e27fbff944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ee72f9a9314825" /><Relationship Type="http://schemas.openxmlformats.org/officeDocument/2006/relationships/notesSlide" Target="/ppt/notesSlides/notesSlide3.xml" Id="Ree568a6b7b1e46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8a8c9d843f4245" /><Relationship Type="http://schemas.openxmlformats.org/officeDocument/2006/relationships/notesSlide" Target="/ppt/notesSlides/notesSlide4.xml" Id="R0cc7814d93e14c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63a8a599b84349" /><Relationship Type="http://schemas.openxmlformats.org/officeDocument/2006/relationships/notesSlide" Target="/ppt/notesSlides/notesSlide5.xml" Id="Rec8311c075fb43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4027d31044160" /><Relationship Type="http://schemas.openxmlformats.org/officeDocument/2006/relationships/notesSlide" Target="/ppt/notesSlides/notesSlide6.xml" Id="Rae8a64c8d34f4b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15058d6cbb4c8e" /><Relationship Type="http://schemas.openxmlformats.org/officeDocument/2006/relationships/notesSlide" Target="/ppt/notesSlides/notesSlide7.xml" Id="R02f74a0821a24e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fd3ded5b74961" /><Relationship Type="http://schemas.openxmlformats.org/officeDocument/2006/relationships/notesSlide" Target="/ppt/notesSlides/notesSlide8.xml" Id="R9652c596fa614f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d960cf8194ecd" /><Relationship Type="http://schemas.openxmlformats.org/officeDocument/2006/relationships/image" Target="/ppt/media/image.png" Id="R3160952258b3487e" /><Relationship Type="http://schemas.openxmlformats.org/officeDocument/2006/relationships/notesSlide" Target="/ppt/notesSlides/notesSlide9.xml" Id="R8c7cbaf0995444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0cc8bbb2ae4fae" /><Relationship Type="http://schemas.openxmlformats.org/officeDocument/2006/relationships/notesSlide" Target="/ppt/notesSlides/notesSlide10.xml" Id="Rd32e6554ebdf4c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d9fccb41cb4cdc" /><Relationship Type="http://schemas.openxmlformats.org/officeDocument/2006/relationships/image" Target="/ppt/media/image2.png" Id="Rcc6c2b03b4234c42" /><Relationship Type="http://schemas.openxmlformats.org/officeDocument/2006/relationships/notesSlide" Target="/ppt/notesSlides/notesSlide11.xml" Id="R1a54ef9558a64f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fa458937054451" /><Relationship Type="http://schemas.openxmlformats.org/officeDocument/2006/relationships/image" Target="/ppt/media/image3.png" Id="R5db5e2e3a2924042" /><Relationship Type="http://schemas.openxmlformats.org/officeDocument/2006/relationships/image" Target="/ppt/media/image4.png" Id="R093cc302eb194419" /><Relationship Type="http://schemas.openxmlformats.org/officeDocument/2006/relationships/image" Target="/ppt/media/image5.png" Id="R4460482ce0034f9d" /><Relationship Type="http://schemas.openxmlformats.org/officeDocument/2006/relationships/notesSlide" Target="/ppt/notesSlides/notesSlide12.xml" Id="Rd9ad75af87df48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31be209c084fdd" /><Relationship Type="http://schemas.openxmlformats.org/officeDocument/2006/relationships/notesSlide" Target="/ppt/notesSlides/notesSlide13.xml" Id="Rf0b5247c26e847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6579b86a0f4239" /><Relationship Type="http://schemas.openxmlformats.org/officeDocument/2006/relationships/image" Target="/ppt/media/image6.png" Id="R2fd77bb8232247c8" /><Relationship Type="http://schemas.openxmlformats.org/officeDocument/2006/relationships/image" Target="/ppt/media/image7.png" Id="Ra212697c89d74aac" /><Relationship Type="http://schemas.openxmlformats.org/officeDocument/2006/relationships/notesSlide" Target="/ppt/notesSlides/notesSlide14.xml" Id="R86d38d333d1340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b5448290d4d1a" /><Relationship Type="http://schemas.openxmlformats.org/officeDocument/2006/relationships/notesSlide" Target="/ppt/notesSlides/notesSlide15.xml" Id="Rf3bfe933d77145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0491d925a043f5" /><Relationship Type="http://schemas.openxmlformats.org/officeDocument/2006/relationships/notesSlide" Target="/ppt/notesSlides/notesSlide16.xml" Id="R9c98386f9bdc4e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015d5fb0bd49fd" /><Relationship Type="http://schemas.openxmlformats.org/officeDocument/2006/relationships/image" Target="/ppt/media/image8.png" Id="R1ab7b52bf0704426" /><Relationship Type="http://schemas.openxmlformats.org/officeDocument/2006/relationships/image" Target="/ppt/media/image9.png" Id="Rc473b9c9b9894893" /><Relationship Type="http://schemas.openxmlformats.org/officeDocument/2006/relationships/image" Target="/ppt/media/image10.png" Id="R518c043faa9b42d8" /><Relationship Type="http://schemas.openxmlformats.org/officeDocument/2006/relationships/notesSlide" Target="/ppt/notesSlides/notesSlide17.xml" Id="R332587708e0049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3069c365744a44" /><Relationship Type="http://schemas.openxmlformats.org/officeDocument/2006/relationships/image" Target="/ppt/media/image11.png" Id="R2cec3eab4a2741cc" /><Relationship Type="http://schemas.openxmlformats.org/officeDocument/2006/relationships/image" Target="/ppt/media/image12.png" Id="R9f1de304200548e1" /><Relationship Type="http://schemas.openxmlformats.org/officeDocument/2006/relationships/image" Target="/ppt/media/image13.png" Id="Rb00e6103dc9749a0" /><Relationship Type="http://schemas.openxmlformats.org/officeDocument/2006/relationships/image" Target="/ppt/media/image14.png" Id="Rdf44badca4694c72" /><Relationship Type="http://schemas.openxmlformats.org/officeDocument/2006/relationships/notesSlide" Target="/ppt/notesSlides/notesSlide18.xml" Id="R0110acb275c443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016f9adec4d12" /><Relationship Type="http://schemas.openxmlformats.org/officeDocument/2006/relationships/notesSlide" Target="/ppt/notesSlides/notesSlide19.xml" Id="Rb58a3302c3b741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dd5725dba4cf4" /><Relationship Type="http://schemas.openxmlformats.org/officeDocument/2006/relationships/notesSlide" Target="/ppt/notesSlides/notesSlide20.xml" Id="R7b9d224377f54f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129172302e4eeb" /><Relationship Type="http://schemas.openxmlformats.org/officeDocument/2006/relationships/notesSlide" Target="/ppt/notesSlides/notesSlide21.xml" Id="Rb909fe4c4ddf4a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f6bf483b304e0e" /><Relationship Type="http://schemas.openxmlformats.org/officeDocument/2006/relationships/notesSlide" Target="/ppt/notesSlides/notesSlide22.xml" Id="Rcb9803b8c25d41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7bf94f60914ad1" /><Relationship Type="http://schemas.openxmlformats.org/officeDocument/2006/relationships/notesSlide" Target="/ppt/notesSlides/notesSlide23.xml" Id="Ra444b9829f1b4e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9a815e78d4543" /><Relationship Type="http://schemas.openxmlformats.org/officeDocument/2006/relationships/notesSlide" Target="/ppt/notesSlides/notesSlide24.xml" Id="R7decd6b531ca45b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3849826163456e" /><Relationship Type="http://schemas.openxmlformats.org/officeDocument/2006/relationships/notesSlide" Target="/ppt/notesSlides/notesSlide25.xml" Id="R2a4d9c804c104b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27AFF-93BE-40BB-B0D2-A57BDEB1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BD479-BE7A-4BA9-BBE8-4C7B6062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776E8-E35E-4042-AFEB-64FB82F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START / 목차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369A1-0CB1-4587-88D8-E7B16D75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E79E5-B7F8-42A9-8E47-EAE9EA3F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5EA87-0418-4F2D-B849-E6571AED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L1-L54 | 제목·차례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7DCF9-EEC5-42CE-931D-3240D881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9AE3C-3710-4943-B85C-7E62956E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81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의미론적 3D 공간</a:t>
            </a:r>
          </a:p>
          <a:p xmlns:a="http://schemas.openxmlformats.org/drawingml/2006/main">
            <a:pPr algn="l">
              <a:defRPr sz="36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자동 구성 시스템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FA1A5-0DA9-4BD1-8E1A-82D4D8F2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LLM + Generative 3DGS + Unity physical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F1569-9250-47F9-B0BF-F3134E80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50265-6E84-4469-BE9F-EE7E9C3E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5186C-5217-4C91-839D-0A33CF7C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문제와 연구 공백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C08C4-CFA5-4706-9897-B27C3709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월드 모델 이후에도 엔진 실체화 층위가 남습니다.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21840-6EA8-4925-A72F-048AF21C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2100D-8FD5-46E5-A876-83359569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5E3BE-B5E2-4F31-A314-D49E691C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관련 연구와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735A5-0779-4D59-823A-93F4A6E8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3DGS, LLM layout, engine integration, physics.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86E2B-8CA7-4C67-9CB5-476BF86A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56AD8-0617-4926-A56E-568369B3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70B13-A0C2-4A14-AA3A-F8D04D0E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Unity-SplatForge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707445-9A03-464C-92A5-CF8B2FF8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 JSON, LayoutValidator, HybridSceneObject.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57514-6AE6-41A3-85C7-7A4CF394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47E8A-9E4A-4930-B256-2230036C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1F186-B934-463A-BCF1-D2B57E17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실험과 결과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D1C5B-4678-4F94-9CE4-E2B023DF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3/4/4a/4b/5a/5b/6 결과 중심.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50E638-B347-4E3F-A909-66E1F5DF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26899D-DE93-41E4-B252-0819604F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DC191-151A-413B-830C-612FDF6A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논의와 전망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3837E-CF16-46B5-8C3C-8AD61C80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world model 대비, 한계, 후속 질문.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080C3B-49A9-4128-B1EC-E97C2312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76300"/>
            <a:ext cx="31432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91BC9A-3BEC-4403-9A96-01A6FA09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57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Unity-SplatForge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CFAC2E-DD3D-48BD-9B1B-3669B1AA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D5AED-AC01-40D9-991E-8EF0708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TEXT PROMPT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7959D5-81DC-452C-A25E-D215E748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621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E2CFF0-C769-4E21-9CF9-4002DCB0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478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F6DB00-366A-48BB-8B78-187C74F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C9F80E-8421-4697-8A89-F11D873C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336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RAYCAST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A1373F-06E2-4B30-B464-746DA553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35DB7D-392F-49BF-A3A8-B37EEE94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336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OVERLAPBOX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66ABEE-1A42-416E-A6A8-745461B7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E5304F-4397-4621-9144-527A5535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194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3DGS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061C5F-9726-4897-AF31-90C3A51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153F8A-7165-44D2-9778-72AE4438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19475"/>
            <a:ext cx="838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3FFBE7-9B2E-40BC-9A73-8698C7E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2628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객체 단위 의미 배치와 엔진 네이티브 물리 검증을 연결하는 중간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13691932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EBD62B-2426-445B-9F9B-596A5435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9C41C-33B8-41B5-B7B4-46320503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64EC5-3F91-4424-8076-68B3C92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01 / 핵심 논지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B2AB5-6D6B-4F16-A1E6-9974EC29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논문은 '생성'보다 '실체화'의 중간층을 다룹니다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C4609-D8DF-470C-9F9C-FE6643F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533BF-C6A3-4E2C-836E-4B3C5772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37768-361E-4275-8393-163E050F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L56-L68, L92-L96, L461-L469 | 요약·기여·Table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3DF34-3C62-4E8E-86D8-D50C0CFE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95741-D609-4069-9CED-8B429445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5A7D4-F073-44D1-BE30-65E2DCE7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문장 주장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7FA6C-000F-4BF7-8FD1-957CD0D8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419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LLM이 의미론적 배치 후보를 만들고, Unity 물리 엔진이 검증한 뒤, 3DGS 객체를 게임 엔진에서 작동 가능한 공간으로 조립합니다.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45524-7F2B-44D0-AB09-DCA7E7C2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362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3F60C-99E8-40A5-9E5B-054343A2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기여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A427F-2E13-41BF-B4BD-87842E9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3DGS 에셋을 proxy collider와 묶는 HybridSceneObject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D24CF-FF79-4AFD-B8AB-6B10BF91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362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7F2CF-A2CE-4A2B-906E-F5FC9EBA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기여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9E017-1E0E-4DCA-BA6F-ECEC8510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 좌표를 raycast + OverlapBox 루프로 검증하는 LayoutValidator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36C9D-934E-45A8-98F1-0B724011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4362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69857-DE44-408B-9A9C-290D23C1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401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기여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6B0E4-E5DB-4FB4-BF2F-8DB092B3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401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Semantic Proximity, Safety Zone, Grounding 지표와 절제 실험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ECC15-DCB5-48F1-AD3D-BDE84AC1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04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4B5C6-BAB1-4C79-997E-327B8A53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838EA-52DB-47B9-AEE8-02ED2BC3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Hands-on authoring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6E7EA-DD88-4131-934F-426E399A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약 78.2% 단축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6AE8D-7148-4454-8A15-DF4D4DD0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3 평균: 204분 -&gt; 45분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E57D0-BF0C-436F-ABD3-F0A6A124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129FF-BAE0-4063-A3BB-9CF8361E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3AD95-37DC-4F77-AFFF-D415B92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291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Phase 2 sweep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23D4C-B6F5-4A97-BD28-15CB49D4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149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90 trials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1B4AD-A347-49B3-86C1-6D57B96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530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 시나리오 x 3 조건 x N=5 x 2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74A01-B6E6-4C5C-A679-065A0F8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핵심은 두 계층입니다: LLM은 의미를 잡고, 엔진은 물리를 닫습니다.</a:t>
            </a:r>
          </a:p>
        </p:txBody>
      </p:sp>
    </p:spTree>
    <p:extLst>
      <p:ext uri="{BB962C8B-B14F-4D97-AF65-F5344CB8AC3E}">
        <p14:creationId xmlns:p14="http://schemas.microsoft.com/office/powerpoint/2010/main" val="546338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F9E2A-5939-4460-8609-C68A8568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EDDDD-43D5-476B-A335-1C643945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C8FAE-83BA-41D7-90D5-59F3F43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02 / 배경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5F0B0-47D6-4FE7-946F-5A32296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AI의 관심사는 텍스트·이미지·영상을 넘어 공간으로 이동합니다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2C4CB-43B6-4BD3-A6B9-AD85EE22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11608-9AEB-422E-B9E3-AC4DF26E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F491D-69BE-41D1-AC6C-7FE76D1F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L78-L90, L174-L195 | 배경·월드 모델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A294B-68C3-4D90-BCE3-37A41827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5ACCA-B370-4B0D-9419-B5A200F0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4152C-11E5-4DA6-85C4-50C6198B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Text /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18B9D-6499-4582-A3EF-61F9C1F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LLM이 언어와 코드를 다룹니다.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D2711-3EFF-4D3B-B2FB-14AA12DE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AA243-B70F-49FC-8271-A53B511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Image / video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53F82-3D21-4C76-956D-69E4F054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19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확산 모델과 video world simulator.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83B5C-0497-401B-ABC9-AEF2C600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859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4BF07-D6CE-4A74-8EDA-659DAFCB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57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 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57C95-F8A5-4102-8EAA-D325D540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19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3DGS, NeRF, text-to-3D.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6DBD4-6B07-43F2-AFED-D5503F90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003E4-BA5C-4BAF-B70F-FBCC1319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World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20A23-9308-464A-A335-6269AD62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상호작용 가능한 세계 생성.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DC9FB-FA0C-40BA-A364-77375C25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FA63E-0D3A-4605-957E-BB12A193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68423-10C2-4962-BB63-12D003E5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5C169-3A09-407E-99CE-55E5FCF8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FD3F9-CB16-43D3-82BF-1EBA366A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A8FE90-F1BF-473A-82E7-BDA0087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2E0F7-45C2-4AB1-B7B7-E2B398F9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177D2-E47D-4622-9C5C-70BBC2FF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하지만 '세계 생성'과 '게임 엔진에서 충돌하고 이동 가능한 공간'은 같은 문제가 아닙니다.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96044-98AD-4E88-8814-C56CF51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본 연구의 질문: 생성된 3D 표현을 어떻게 객체 단위로 배치하고, 물리·이벤트·내비게이션 체계와 연결할 것인가?</a:t>
            </a:r>
          </a:p>
        </p:txBody>
      </p:sp>
    </p:spTree>
    <p:extLst>
      <p:ext uri="{BB962C8B-B14F-4D97-AF65-F5344CB8AC3E}">
        <p14:creationId xmlns:p14="http://schemas.microsoft.com/office/powerpoint/2010/main" val="17292357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CB02B-A68B-4066-B73F-7EBEDD4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36106-46A5-47A5-B001-12F6AF8D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A542B-A893-44F9-BE20-BAA065B5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02 / 연구 공백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75844-8B75-4260-8597-0EE17092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World model 출력과 엔진 실행성 사이의 빈 층위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30E90-D93E-44FB-B813-ED8006E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D84B3-6851-447C-BCDC-88B039A5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9F257-7D56-4B9E-B1CA-EBDDA213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L205-L215, L585-L605 | 선행연구 공백·월드 모델 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0AA26-4450-4954-AD62-6C43836E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3C524-8E45-4431-A458-7E4AA0D6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5FBDD-34B4-40A9-9BAC-76610FE6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Scene synthesis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E92A6-00B2-46DC-8D50-AFE39384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월드 모델은 방이나 세계를 통째로 생성합니다.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3DGS / mesh / video 표현.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831D2-9C77-4B15-8BCE-B95935D4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14500"/>
            <a:ext cx="2762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85B44-ACBC-4A39-8A42-E2880B0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Missing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84316-90A9-4917-8490-F47DE494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47900"/>
            <a:ext cx="24193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객체별 의미 좌표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collision / grounding 검증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엔진 component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94268-0230-4AB8-9273-60D980D0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56384-78BC-496B-92D2-34F4651A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717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Engine embodiment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3CCF0-BD27-40F9-BC6A-1103750A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33650"/>
            <a:ext cx="2419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 PhysX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collider / NavMesh / event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runtime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DD405-9A1E-4357-BDC0-818BE72B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956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72FE2-4D86-4998-9659-A2A48D80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439C3-8552-4F48-92A2-A107D0B4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D7CA8-427F-4E5B-8A61-F9D8CF9A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3AAFF-834B-45BB-BB85-72D1B176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6972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AF28E-0CA6-45C0-8108-B9D630A4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632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Unity-SplatForge는 이 가운데 층위를 객체 단위 semantic placement로 구현합니다.</a:t>
            </a:r>
          </a:p>
        </p:txBody>
      </p:sp>
    </p:spTree>
    <p:extLst>
      <p:ext uri="{BB962C8B-B14F-4D97-AF65-F5344CB8AC3E}">
        <p14:creationId xmlns:p14="http://schemas.microsoft.com/office/powerpoint/2010/main" val="507380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1FD102-DBC6-4140-9897-0A5E2BF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17727-7C11-4B85-B19F-CDA34797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D636E-87F3-450C-ACD9-91D649B2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03 / 관련 연구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EB080-15A6-45C4-BE18-7A3809F7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선행 연구는 네 축으로 모이고, 본 연구는 그 사이를 잇습니다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FEC9D-DFCD-4B8C-85F7-30963FB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2F730-27A7-4863-8A48-3CFBDA12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A7C4D-0DBB-456C-8362-3C1C91C2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L102-L205 | 관련 연구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D0209-B338-4F44-A67B-96C33CC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7B744-5B60-4A62-A964-80A1D5BB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6D181-C5D4-403C-9ACC-2C33CCAE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1A292-B6A0-4041-B54F-BB2FA213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명시적 splat 표현.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빠른 렌더링과 편집성.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BAC44-039F-4BA7-8FEA-E2D88C3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E467B0-055F-452A-B67C-F719E0EF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Generative 3D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29842-9D85-47BB-8B31-D0F48807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71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DreamGaussian, LGM.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텍스트/이미지에서 객체 생성.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79AC3-A7BA-49C4-82E2-AD1EB084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A5FD3-DB32-4D26-826A-D449FE70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layout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CB5A7-6547-4668-958D-DD643BE0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LayoutGPT, Holodeck.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상식적 관계는 강하지만 물리 좌표는 불안정.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8600C-85CB-4DEF-9FCB-DDA6C8E3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383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2F937-0DBA-43B8-89A1-67BFC59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Engine / physics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97AE0-7F9F-4E72-96F3-2E970A87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 MCP, PhysGaussian, PhysSplat.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엔진 통합 또는 네이티브 물리.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C386E-2C9F-412D-8BE4-5CD19449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0"/>
            <a:ext cx="861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B6B6F-4F1E-4276-829D-34F557C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공백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98F84-1632-4E62-8190-DBFF47B8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657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3DGS 에셋, LLM 배치, Unity 물리 검증을 하나의 저작 파이프라인으로 묶은 실용 계층이 부족합니다.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240EC-71A3-4B8F-9D64-6F9246C0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23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1a / 1b는 각각 macOS 3DGS 도구와 world-model 분류를 비교하지만, 발표에서는 결론만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506400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6ECF9F-B95A-491E-9797-80B9036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76C7B-3EF2-4507-8027-1C5C4EB0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C18C7-2F45-47CE-BD75-726DDE5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03 / 선행 연구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41AD4-6A95-4C7F-91B7-6993A387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3DGS와 생성형 3D: 빠른 표현은 얻었지만 엔진 물리는 비어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85B47-AEA9-43F1-825F-A2E82DEE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AD128-819E-49CE-99A4-B19FF02C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DC941-7F30-4A56-8DA0-F681CC8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L104-L122 | 3DGS·생성형 3D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436CE-3446-4EDF-94AE-8D7B7D12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BB827-1FC6-4586-A323-07A20D3F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8FC8C-04C2-4968-A94A-B2FDBADF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 Gaussian Splatting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A0D56-2347-4FF2-BD7A-BF3A2DC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Kerbl et al. 2023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수십만 anisotropic Gaussian으로 장면 표현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1080p 100fps 이상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E5558-1ADB-48BE-B227-11342E41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0DEBC-91D8-4F16-A25B-EDFA1CEC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Generative 3DGS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2EA57-C3C4-435C-B389-DBE56F69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DreamGaussian, GaussianDreamer, LGM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텍스트·이미지에서 3DGS 객체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A6FF8-A2E8-4365-A151-3EFA5A25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0200"/>
            <a:ext cx="3143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D960A-AF5B-4CBE-95BB-94B71575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71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Scene-level generation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C7DB1-F809-49B6-A588-F3D46BB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DreamScene, SceneTeller, SceneSplat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장면 레이아웃과 3DGS 합성으로 확장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BFF84-8E9D-4026-A57F-DAFF5AC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87F2E-5317-4EFB-BCCB-B186393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43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선행 연구의 핵심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D3F7C-A38B-44B6-8534-A3038371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3D 표현의 생성 속도와 시각 품질을 크게 끌어올렸습니다.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51F160-DDF0-4CF9-B6A9-11C5575A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DF1CD-C6F2-4BD9-ACBC-474DD0CA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 연구와의 차이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4A01C-40DA-42C0-84C3-10382038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62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충돌체, object metadata, Unity runtime 연결을 별도 계층으로 설계합니다.</a:t>
            </a:r>
          </a:p>
        </p:txBody>
      </p:sp>
    </p:spTree>
    <p:extLst>
      <p:ext uri="{BB962C8B-B14F-4D97-AF65-F5344CB8AC3E}">
        <p14:creationId xmlns:p14="http://schemas.microsoft.com/office/powerpoint/2010/main" val="1821975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D6BE41-58A7-4985-8103-2DF242E9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2378F-3F6F-4DB6-BD4A-68CABA14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50283-E2C6-4DA1-9F7D-EE716AD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03 / 선행 연구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E563E-F492-43B0-8D10-3E9D9A4E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layout: 의미 관계는 강하지만 좌표의 물리성은 약합니다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3BF7C-B864-4D8D-9A8F-FB188502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79CAE-248D-4539-95A4-D7BEE67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8B628-0B72-49BE-AF29-E9032811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L124-L144 | LLM layout·엔진 통합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6EE9D-9676-4C1A-80C9-8898059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66CFC-AC05-4672-8450-4E879B09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E39EF-5EE7-481F-A26C-558A18E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LayoutGPT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ACC8B-55B1-41A3-A3D6-5B86297E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in-context learning으로 가구 좌표를 선언적 명세로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86BF4-1F73-4F4C-955D-56F5B7E6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621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91B08-7EA6-4526-898D-C05D91F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Holodeck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1A7FB-4CFC-4F77-A810-0C94036D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주거 공간 전체를 LLM으로 구성하고 Habitat에서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106B4-33D4-4A50-8B87-E3A6B71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DFA91-1DA3-4D4E-A3E0-AA99A1DB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LayoutVLM / DisCo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ED1A6-C2ED-46FD-9172-831551D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렌더링 관측, 다중 에이전트 비판·수정 루프로 보정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EC29E-3C85-4B48-8A78-A56D1CAC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621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261AE-0D8A-4AED-814D-F9692C67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335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LLplace / FurniScene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2507C-2EEF-41F0-BF7B-51A1999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038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오픈 모델 파인튜닝과 대규모 room layout benchmark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15246-2D76-43BB-8903-BFF9BEBB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AA945-26DA-4046-B167-E8DCD89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선행 연구의 핵심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ADD5F-BD2E-4F1C-9794-5B8E873E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침대-협탁, 책상-의자 같은 상식적 관계를 좌표 후보로 바꿀 수 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E16DB-7114-4B0D-89BF-82A4BD1B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EF909-60F6-4880-801B-EF2625B1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 연구와의 차이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96906-3065-4F32-B36B-19E76C8C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29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좌표를 신뢰하지 않고, Unity raycast와 OverlapBox로 엔진 좌표에 다시 고정합니다.</a:t>
            </a:r>
          </a:p>
        </p:txBody>
      </p:sp>
    </p:spTree>
    <p:extLst>
      <p:ext uri="{BB962C8B-B14F-4D97-AF65-F5344CB8AC3E}">
        <p14:creationId xmlns:p14="http://schemas.microsoft.com/office/powerpoint/2010/main" val="19611586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6924E7-EE84-44CB-B743-9C1A835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BE1DA-64A6-4FD2-9C73-4B28925E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1A656-33D9-4C01-B62C-002502F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03 / 선행 연구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67BD5-A62B-4F18-B1F3-E318E736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월드 모델·물리 3DGS와의 경계: 본 연구는 다운스트림 실체화 계층입니다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D8E79-F2D4-42BA-9175-67A925DE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6A2CD-0345-40DF-90E4-3D80D971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0D1C3-30B1-4D9E-838E-E1A7809F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L174-L205, L589-L605 | Table 1b·물리/의미 통합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04CE5-C35E-4048-AE69-1BA3890E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5635F-5A61-4955-81AD-3D05B245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DE079-FD70-4914-A1C0-8D8D58F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World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76619-3BB5-4E9C-83F7-44808565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800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Lyra, Marble, HunyuanWorld, Genie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씬 전체 또는 interactive world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69BF7-B667-40A1-B56F-EF956F1B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811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9899A-2CF8-4FB3-ABFF-7A5E7223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Physical 3DGS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94850-1A82-4366-920C-D4BA209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14550"/>
            <a:ext cx="2800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PhysGaussian, PhysSplat, GASP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가우시안 자체에 물리 의미를 넣는 상향식 경로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BDBB0-6922-46C6-A4F8-579FAED8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17C20-9208-4E4B-8B54-63C70EDD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Engine-native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2489B-54D8-4F9A-9305-FD28632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2800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 MCP, AI level designer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엔진 도구와 생성 AI를 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5956A-D97D-419D-94B1-648E6EC6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971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F8E16-EC30-4A1A-ACC5-E4D2DAB8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차이점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9B036-F792-45BE-8853-01F03F5D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월드 모델은 '전체 장면 생성', physical 3DGS는 '표현 자체의 물리화'가 중심입니다. Unity-SplatForge는 이미 생성된 객체를 엔진 안에서 의미 배치·물리 검증·편집 가능한 단위로 조립합니다.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CC585-AD0E-4D0E-8983-B5BB732F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따라서 경쟁축이 아니라, 생성 모델 출력물을 게임 엔진에 실체화하는 downstream bridge입니다.</a:t>
            </a:r>
          </a:p>
        </p:txBody>
      </p:sp>
    </p:spTree>
    <p:extLst>
      <p:ext uri="{BB962C8B-B14F-4D97-AF65-F5344CB8AC3E}">
        <p14:creationId xmlns:p14="http://schemas.microsoft.com/office/powerpoint/2010/main" val="17964856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243EE-CB59-43C4-B614-1D76E55F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247AA-C203-4319-94A6-C78AD860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23833-D0D1-4592-A7FC-C85BCC94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04 /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BE3D5-AA3B-4BAB-B8DF-7798178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전체 구조: prompt에서 playable room까지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0AF55-5299-4337-8267-DD159CEA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70410-61A9-4134-A7A0-A591C4F7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A8150-266F-4BA8-8BDE-ABC52B6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L217-L250 | Figure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6405E-007B-4D1A-93C7-D9B4D3EC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C32A9-944B-4331-823A-4A4E48E1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668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0952258b3487e"/>
          <a:stretch xmlns:a="http://schemas.openxmlformats.org/drawingml/2006/main"/>
        </p:blipFill>
        <p:spPr>
          <a:xfrm xmlns:a="http://schemas.openxmlformats.org/drawingml/2006/main">
            <a:off x="819150" y="2285381"/>
            <a:ext cx="10325100" cy="154428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73A7B-70D6-49C9-B6A5-FAAF9B4F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1. Unity-SplatForge data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9FE61-433A-4155-B855-441668A2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A9163-AA70-4E04-AA7D-7B216DA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42922-0AA8-4947-B49D-0C17ED09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CCFB2-6345-4E6B-8C1A-E6E7356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자연어 방 설명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14797-AE64-42BA-BF1C-4B45293C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한국어·영어 room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4A2F1-1A79-4446-99D7-B3944F1C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01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46FE4-AF45-42A3-B00B-CD73F582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0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720A3-F80F-4A27-95FA-1616E6E7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81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Middle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80257-8463-449B-9B11-7AAB0F7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673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JSON + validator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3B223-3958-4AE6-98AD-B465DF34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05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좌표 제안 후 raycast / OverlapBox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04748-9ED3-4980-98A0-0B6CE826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D9727-84B5-4A68-B2E3-1000E644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0EE45-F277-49CC-AB2C-7ACA16EC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816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D75FE-1E45-4DFD-A018-64B08820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673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engine-native room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FE920-9E26-472D-B709-119EDA93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05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HybridSceneObject와 Unity runtime</a:t>
            </a:r>
          </a:p>
        </p:txBody>
      </p:sp>
    </p:spTree>
    <p:extLst>
      <p:ext uri="{BB962C8B-B14F-4D97-AF65-F5344CB8AC3E}">
        <p14:creationId xmlns:p14="http://schemas.microsoft.com/office/powerpoint/2010/main" val="18935597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88CED-1112-4C8B-BD6A-195BD5A1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3A7D1-0010-4A2E-A7D0-1B40B2C9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EE438-D079-4ECC-8C09-BDFFA285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04 / 구성요소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A50EB-EFD0-49EE-A9BE-375E3CC1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1: 표 전체 대신 시스템 역할만 남깁니다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37615-ED88-48CA-9572-679027A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90701-643C-48ED-84AC-DE39CDC1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EE545-8A5A-4F59-9940-CEDD16B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L219-L250 | Table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6F8EB-60AD-4749-BE58-CE05848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50880-A24F-4433-98AB-BE2438B6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6273D-9B3C-46FE-8DB9-AA3AA999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Planner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0A9F6-130D-4EBA-ACBB-A9F59E8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room prompt -&gt; object coordinate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50A5B-E5DA-4A1D-85AA-4D6D62AF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7A8DE-69BD-4571-A939-D459F19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ProBuilder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6E553-10C9-47A8-9569-A62C3909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walls and floors as exact structure mesh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B7B64-2B54-4FC3-983E-28F9906D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D40DF-5525-4D2F-B244-A5F632C5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Brush / 3DGS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52686-575A-435D-80D8-83259D81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asset training -&gt; PLY -&gt; GaussianSplatAsset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0964C-A69C-4CFB-B096-94C6E1A5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A17A1-248D-493F-BA09-67A049F4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HybridSceneObject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EBB0F-F0CE-4C16-B3FD-150F5ABD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GaussianSplatRenderer + proxy collider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14050-66DD-4AB0-B15A-BD51691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81200"/>
            <a:ext cx="1885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277AD-1FB5-4CBE-B7A1-15E7B34E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526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LayoutValidator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59C2B-57AD-466E-A3B5-723A8EED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146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raycast snap + OverlapBox 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D349E-2FE9-4CEE-BC64-1EFEAA43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09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1D02F-99E3-4EAA-BD37-501832AD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332F0-0E57-449D-9B79-0E917D35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A8655-418D-4AD0-9AA2-52F3FA3C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5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3C206-F2B6-499C-B2B0-12B44C63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09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7FB8A-AA48-482E-84AA-4B84BC5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967446-EFD1-4818-9EEE-62D0006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09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A4E668-6BEB-4621-A72E-C495420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5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62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C3B61-19BC-4908-AB14-2711247C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971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6A512E-ADE5-44F9-A0A2-AA59056C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43425"/>
            <a:ext cx="891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 원칙: 구조 기하는 메시로 정확하게, 객체 외관은 3DGS로 실사감 있게, 물리 판단은 Unity가 명시적으로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2071722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B6CC42-9864-4D31-B70F-0C55779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BEADA-3664-4D83-9F84-379518B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E038-C1C6-4DCE-B3DD-2D38D5CF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04 / 물리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69A1D-662A-47C6-B06F-4519BE62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LayoutValidator: LLM 좌표를 엔진 좌표로 닫는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27CB2-7D49-47F3-8D50-8DAC8CBC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98E67-D09C-4C46-A78F-13E1BE03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80B63-552E-492B-A1A7-527AD972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L276-L307 | Figure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041D-DC5E-43D9-8AD6-82C0A63F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A3428-40BC-48EF-A06E-915C7111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010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c2b03b4234c42"/>
          <a:stretch xmlns:a="http://schemas.openxmlformats.org/drawingml/2006/main"/>
        </p:blipFill>
        <p:spPr>
          <a:xfrm xmlns:a="http://schemas.openxmlformats.org/drawingml/2006/main">
            <a:off x="2251726" y="1581150"/>
            <a:ext cx="3840447" cy="3752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BFAA6-9073-4786-861D-712F99BF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2. Raycast -&gt; Snap -&gt; OverlapBox validation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CA5A2-0EAE-4403-869C-04C02D5A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935EB-3E24-4117-9B2B-576F72D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933F6-03B3-40F2-A047-C6BD847D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21656-EB55-4308-89A2-17F806E7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좌표 수신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3281C-7F68-4E78-A0D0-F0D9C7DF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object center 후보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9FE53-6342-4672-BD70-682557DD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BB731-A07C-45D0-BDB6-09AC1AF3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07711-329F-4DA8-BBC5-60674816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7E37C-828D-4BDA-B05D-51CBBDFB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0520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Floor snap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D04C9-3221-45F5-B740-C9DEA528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433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상공 20m raycast로 Y 보정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6D799-1D36-4834-A0C4-8869D4B0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B0BF5-B14D-4382-A92F-6A6EAAEE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C9850-F833-43FB-B5C8-2AEB4FC6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S3-S5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7B58AB-F858-4D96-8E2E-5384D580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OverlapBox reject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6DD9D-A486-4CE8-91B1-B9A97ED9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864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충돌 push-out 후 벽 clamp</a:t>
            </a:r>
          </a:p>
        </p:txBody>
      </p:sp>
    </p:spTree>
    <p:extLst>
      <p:ext uri="{BB962C8B-B14F-4D97-AF65-F5344CB8AC3E}">
        <p14:creationId xmlns:p14="http://schemas.microsoft.com/office/powerpoint/2010/main" val="8394147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5022FB-7A80-489D-8517-AE10D6EB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CA33D-C0F6-48FD-9792-D0DB8E7F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A86B5-283D-48EB-BD20-8646A9F7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04 / 3DGS 통합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7D56-4D7E-4ACF-AB82-97754D1E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HybridSceneObject: splat의 외관과 collider의 물리를 분리합니다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55D79-9576-4165-95D6-02A85CE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E8C94-BB29-4C17-B7A5-3EA18541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D0E96-4FD9-428E-8C4C-DB470E67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L437-L455 | Figures 13-15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52736-9F4A-4795-9251-685109C7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FE452-A793-42DD-8C51-0F7726DA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5e2e3a2924042"/>
          <a:srcRect xmlns:a="http://schemas.openxmlformats.org/drawingml/2006/main" l="21559" t="0" r="215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47800"/>
            <a:ext cx="3429000" cy="3390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E2EB6-A10D-4EC3-8A42-26BBE28A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4780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cc302eb194419"/>
          <a:srcRect xmlns:a="http://schemas.openxmlformats.org/drawingml/2006/main" l="21559" t="0" r="215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447800"/>
            <a:ext cx="3429000" cy="3390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FABBE-38BF-4480-ABCC-FFBD7D2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0482ce0034f9d"/>
          <a:srcRect xmlns:a="http://schemas.openxmlformats.org/drawingml/2006/main" l="21559" t="0" r="215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447800"/>
            <a:ext cx="3429000" cy="3390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ACFE6-5A80-4023-81B1-0CAC0838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13. 단일 3DGS Statue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ECA14-90CE-43AC-AB33-F8A1C787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14. mesh chair + 3DGS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AE96F-A97C-4351-8A25-DFDB77C5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15. mesh sofa + 3DGS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AF9A15-950A-4667-BAA1-61AC48E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3DGS 자체는 표면 충돌을 직접 제공하지 않습니다. 본 연구는 proxy collider를 씌워 Unity 물리 체계와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14683249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B71E5-CA49-4D71-B7F0-438782DA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EFD3A-A8F9-4221-A201-52FDA349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39C4D-90B5-4D05-918B-B6FD89E1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05 / macOS 3DGS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3CE1F-6CE5-43C3-BE7E-7942D513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1a 결론: Brush를 선택한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31EEE-3D82-4CDB-8B57-3CCA6507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27FFB-1E0C-48E8-AEEA-B9479B98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E7598-33B7-4AE5-9F54-15B816DF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L146-L170 | Table 1a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C45D6-F811-46CC-9593-C1CF271D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95D6E-F6D5-424B-9E58-082D2757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A6834-C28C-4829-9CC1-A482A58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License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9D1C6-ADB4-4660-87AF-7B72068E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609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Apache-2.0.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연구 공개와 후속 상용화의 불확실성이 낮습니다.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3D4BA-ECDF-4396-8E72-DBDEBF9D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38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61C44-FE96-44EB-98FA-2B449052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09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36073-0A0E-4541-9A74-4E7FDE1C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71700"/>
            <a:ext cx="2609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2026-04-19 업데이트.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wgpu 기반이라 Metal/Vulkan/D3D12 회귀가 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C9162-B268-49B7-83F3-61DBF415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383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80DB1-98C6-4736-AB0B-48E38F56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PLY compatibility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C77A6-4807-4C86-8AF1-F4593F1B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2609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원 3DGS PLY schema를 유지해 aras-p UnityGaussianSplatting과 직결됩니다.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71BCE-CD6A-4C5A-8053-B2769F82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667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80B22-B5FB-4DD0-B788-02AC0F52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Brush 300 iter -&gt; PLY 118 splats -&gt; Unity PlayMode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FEB0E-B4F4-41D6-826F-F2ED7E3B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E2E PoC 6개 acceptance criteria 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38014-D81D-4682-AB20-078E13BF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EC6F6-EAF3-4D00-A42E-55C5F0BC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56F89-688D-4F0E-B20D-253D687A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aras-p runtime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87BE9-8267-4B66-BFEB-C18335CA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46 FPS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4B814-6B96-48A4-8216-8D59E2BE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M1 Max, 6.1M splats, 21.5ms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885D3-38C0-467F-B846-95F67BC2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927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729F3-5870-4348-B786-3F8B1B32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57825"/>
            <a:ext cx="883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해석: DreamGaussian류를 배제한 것이 아니라, 에셋 생성 품질 변수를 고정하고 배치·물리 검증 계층을 분리 평가했습니다.</a:t>
            </a:r>
          </a:p>
        </p:txBody>
      </p:sp>
    </p:spTree>
    <p:extLst>
      <p:ext uri="{BB962C8B-B14F-4D97-AF65-F5344CB8AC3E}">
        <p14:creationId xmlns:p14="http://schemas.microsoft.com/office/powerpoint/2010/main" val="9733628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9A1A4B-7802-4611-9D7C-E0D26CDA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04BDF-E551-4559-850C-4AB6DC5D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192B-6873-4DCE-9A41-D6F220CF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05 / Brush 품질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00654-BB15-4B66-A60C-1C15E16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5a: Apple Silicon에서도 표준 3DGS 품질에 접근합니다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4EF3C-5E45-4327-9525-60505787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515C1-B778-49A3-B0D2-D8A34797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E099F-3CC0-43CB-ABBB-1D155DF7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L344-L385 | Table 5a, Figures 5-6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A6267-C86F-4403-8B01-6A2EB705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4C473-84D7-446B-83CE-87EF0F3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257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77bb8232247c8"/>
          <a:srcRect xmlns:a="http://schemas.openxmlformats.org/drawingml/2006/main" l="0" t="1049" r="0" b="1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66850"/>
            <a:ext cx="5257800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5ADD4-AD7A-4B48-BCD8-781D94DB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66850"/>
            <a:ext cx="5257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2697c89d74aac"/>
          <a:srcRect xmlns:a="http://schemas.openxmlformats.org/drawingml/2006/main" l="0" t="1049" r="0" b="1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466850"/>
            <a:ext cx="5257800" cy="3429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6F333-3099-43C0-8FB5-9D46F45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5. COLMAP sparse input / Brush 30K / PSNR 32.21 dB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EDFDD-8B00-4568-ACD3-737E72AD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6. hloc sparse input / Brush 30K / PSNR 31.84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D2183-D7D5-4913-A10B-3FA740DE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005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30K iter: 73분 26초, 592,046 splats, PSNR 32.21 dB. 원 3DGS bonsai benchmark 32.4 dB와 0.19 dB 차이입니다.</a:t>
            </a:r>
          </a:p>
        </p:txBody>
      </p:sp>
    </p:spTree>
    <p:extLst>
      <p:ext uri="{BB962C8B-B14F-4D97-AF65-F5344CB8AC3E}">
        <p14:creationId xmlns:p14="http://schemas.microsoft.com/office/powerpoint/2010/main" val="6737903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B8F6C-ABE7-4328-BF04-A3815A27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88BAF-233C-4B81-A3CE-CA9C5D83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BA474-BC4A-4EFB-915A-BA41747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05 / SfM 병목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97ACA-DEA0-43D8-A3EB-E7ABD9D7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5b: hloc + LightGlue는 속도를 줄이고 품질을 보존합니다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729CC-E114-49CA-A735-D573B9F0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17436-5E30-4881-8ABB-ED11219C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36C6-256E-46D9-9259-AD6F7636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L361-L373 | Table 5b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035AB-00F8-4332-ADFA-7D2FD381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DF807-91BE-4734-82F4-8D35DD56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COLMAP no-CUDA SfM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CCFD2-BEF6-474B-99D3-043B7979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5FD1B-899B-4782-92F9-1EACD5D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BBD3C-0C6D-4D4D-A574-A77D3064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002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106:04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F05EC-E15C-4F36-B78D-3882C42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hloc + LightGlue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F3D3B-EE9F-44D2-BE90-E25354C7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4F253-D6DA-4FCC-994D-7AA583DD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165277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E17D4-7FDB-4350-AFA6-AD944AA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860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B8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5B879"/>
                </a:solidFill>
                <a:latin typeface="Apple SD Gothic Neo"/>
                <a:ea typeface="Apple SD Gothic Neo"/>
                <a:cs typeface="Apple SD Gothic Neo"/>
              </a:rPr>
              <a:t>51:06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BC441-B8D6-446C-A689-82C59E51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B7087-E5B4-4971-AA77-3F571B01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Full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955EF-9B7E-44C6-AF1A-F401D05F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2F220-48B3-418D-AC80-D9886014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238315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F5B2F-B44A-4279-A401-2D83D4E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385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rPr>
              <a:t>179:30 -&gt; 124:49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D85E5-6586-4F35-B694-AF1EF8ED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49FAE-2FF4-407F-8142-1E48065E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93575-727A-4C52-945B-3B4084E0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288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Pair 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E70CE-BC58-4AB7-80D8-AFD06E37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42,486 -&gt; 2,865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3ADF8-033B-428C-97F2-48423C80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sequential N=10, 14.8x 감소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3B771-0C3B-4226-B05A-C7435D2C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6D29A5-8151-4DE8-A7A0-E6C179B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E5ABE-D328-42EC-BAB2-5FC3B870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Quality delta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C98C16-A081-41A9-880E-B1C7B91A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76650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-0.37 dB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5E628-CFF0-4B48-9A9E-FC38173A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14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32.21 -&gt; 31.84 dB, 허용범위 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AC934C-006D-481D-984E-E4B0215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67350"/>
            <a:ext cx="941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결론: macOS 단일 파이프라인의 병목은 학습보다 SfM 전처리였고, hloc 적용으로 정상화됩니다.</a:t>
            </a:r>
          </a:p>
        </p:txBody>
      </p:sp>
    </p:spTree>
    <p:extLst>
      <p:ext uri="{BB962C8B-B14F-4D97-AF65-F5344CB8AC3E}">
        <p14:creationId xmlns:p14="http://schemas.microsoft.com/office/powerpoint/2010/main" val="13365582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970A5-11CF-4AE5-9EA3-3D31B88D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2C413-1F6E-4AB0-A68D-4D5ACD39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41F75-F511-45E3-8803-D67B8BC4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06 / 실험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6282A-83C8-4959-8FF2-E7B61E61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Phase 2 sweep은 LLM과 물리 검증을 분리해서 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0970C-34D6-4E79-B3F6-0AFED8CA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67F4B-41C2-4D4E-9CCD-5583DEA0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1DD4E-34E8-4D7D-965A-1B976055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L393-L397, L484-L488 | Phase 2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BF835-3802-4F8B-B2AF-29221F9B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77E20-DFC5-42BF-9CBA-28367E7F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295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AF8C0-9388-42EA-B438-9BAC40E1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8C567-656B-4303-89D7-BA7FD39E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19E8A-C2C9-43EC-B01E-7C4AC789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87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90 trials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3380B-45DE-43D5-AFE1-CDE3C311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 scenarios x 3 conditions x N=5 x 2 providers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902D5-DA9B-40EA-918C-F50A894E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3295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02E19-D137-4FBD-9D4F-7A758EED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A8725-F23E-4F4C-BB5D-43DD73CF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 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2134E-39D0-4661-9316-4DDF35C7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81200"/>
            <a:ext cx="287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31 calls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AD27B-E7A1-4FA5-8C1F-C2BDD05F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gpt-4o-mini, 총 비용 $0.0094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D5EBB-DDD3-4A28-BD67-3F07BD69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295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DD641-5344-4863-8BA8-18FD2978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AA7CC-FD78-4721-86A1-A8B36745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D79D5-1EA7-469A-A09F-0F4F4698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876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13.4 s/call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0F385-0AC2-484B-91F0-D1774090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비동기 pipeline에서 trial overhead +4~12%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66BE4-7247-47AA-BF76-06E0A13D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4BC48-2F97-484B-9363-B0B5120F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Scenarios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00E1A-BD13-4862-A921-88A942A2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2228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cozy_bedroom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modern_office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living_room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21CF3-9FF8-4292-A88C-C0B2D3E4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957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A872F-15B3-4BC8-8F17-FB425B2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671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Conditions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9562F4-5AB2-4ED8-BE94-EDA123AD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229100"/>
            <a:ext cx="2228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full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llm_only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random_physics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93AFB2-9E55-425C-97F6-2230F79F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4659D0-BF94-48C0-8D07-610392B0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671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FA70B-20AA-4CEC-8476-098A5AF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29100"/>
            <a:ext cx="22288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floor adhesion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semantic proximity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collision / resolved overlaps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CC531-3ABC-4D29-B068-ACC0A138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76900"/>
            <a:ext cx="8077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AC282-DB3F-424C-8F22-E0D2E55B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72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표는 전체를 보여주지 않고, Table 번호와 결과 메시지만 발표합니다.</a:t>
            </a:r>
          </a:p>
        </p:txBody>
      </p:sp>
    </p:spTree>
    <p:extLst>
      <p:ext uri="{BB962C8B-B14F-4D97-AF65-F5344CB8AC3E}">
        <p14:creationId xmlns:p14="http://schemas.microsoft.com/office/powerpoint/2010/main" val="166966658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8FA51-C17D-4D20-84B6-0AEB78A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84EB9-96EE-489B-87BD-050AE519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D38F3-780A-4BA0-85F2-43E3E5FF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06 / 정성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C54F3-E601-47C3-9E11-49CFAE39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Figures 7-9: full pipeline 대표 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16083-251F-42DE-9940-AB554DAC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D28CF-89AD-42A7-9519-D040B883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DC8C9-93EB-4EC2-93AB-E3BD3FDA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L397-L409 | Figures 7-9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AF857-C810-4C8E-8C0A-7302FC5D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899E2-F6D5-4699-A99B-8D3510AE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7b52bf0704426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356235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5891D-C9E4-4C3C-955A-F6DFF6ED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097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3b9c9b9894893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4825" y="1409700"/>
            <a:ext cx="3562350" cy="3143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BE3FF-2366-4456-8068-AFB7DD6E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c043faa9b42d8"/>
          <a:srcRect xmlns:a="http://schemas.openxmlformats.org/drawingml/2006/main" l="18125" t="0" r="1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409700"/>
            <a:ext cx="3562350" cy="3143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75B73-C745-439C-A525-4047393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7. bedroom full / resolved 16 / residual collision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D9E05-2FA9-4DB8-B5B0-490DA72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8. office full / resolved 43 / residual collision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E00EF-78CA-45D0-878E-23383DDA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Figure 9. living full / 한계 사례 / residual collision 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8D964-E55C-43EA-94D4-D861625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998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bedroom과 office는 의미 군집이 보이고, living_room은 자산 카탈로그·피벗·밀도 문제가 드러난 한계 사례입니다.</a:t>
            </a:r>
          </a:p>
        </p:txBody>
      </p:sp>
    </p:spTree>
    <p:extLst>
      <p:ext uri="{BB962C8B-B14F-4D97-AF65-F5344CB8AC3E}">
        <p14:creationId xmlns:p14="http://schemas.microsoft.com/office/powerpoint/2010/main" val="201768394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3CD4B-7637-4918-807E-7EF9E477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3A16B-3E5B-4D6F-8560-0E987DBC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9B2D0-8DD4-47B7-9622-DBDC6C20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06 / 절제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156F9-CF6C-46C5-B143-E6E26C4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Figures 10-12: random_physics는 물리만 통과해도 의미가 약합니다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0872F-243A-4ACC-8A14-54481115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4276A-350B-4CE9-9B3D-587C158E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76E4-6265-4A00-A145-CC9E36B0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L411-L423, L535-L551 | Figures 10-12, Table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DF925-754B-426D-A4B1-2706C904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85010-2BE0-4987-8109-02035E31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c3eab4a2741cc"/>
          <a:srcRect xmlns:a="http://schemas.openxmlformats.org/drawingml/2006/main" l="18040" t="0" r="18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428750"/>
            <a:ext cx="2381250" cy="209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17BED-7B05-477B-BBEF-7EC2BA44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de304200548e1"/>
          <a:srcRect xmlns:a="http://schemas.openxmlformats.org/drawingml/2006/main" l="18040" t="0" r="18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428750"/>
            <a:ext cx="2381250" cy="2095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2E480-41F1-400B-B924-F6A91A6C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e6103dc9749a0"/>
          <a:srcRect xmlns:a="http://schemas.openxmlformats.org/drawingml/2006/main" l="18040" t="0" r="18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428750"/>
            <a:ext cx="2381250" cy="2095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971CF-DB31-4010-8414-B03B4D5C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28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4badca4694c72"/>
          <a:srcRect xmlns:a="http://schemas.openxmlformats.org/drawingml/2006/main" l="18040" t="0" r="180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1428750"/>
            <a:ext cx="2381250" cy="2095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3264D-D883-47D9-B92F-A2C7C20F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Bedroom full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EC843-DC96-48EC-A458-B82BE02A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Bedroom random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7F0EC-7819-4E49-A071-9F2A414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Office full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1E899-F7A7-4216-A536-52D60ADA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Office random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525F6-4155-425D-B7D9-A87AEE5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019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동일한 LayoutValidator를 통과해도, LLM이 없으면 침대-협탁 / 책상-의자 같은 의미 페어가 유지되지 않습니다.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E5D85-C545-487D-B49D-C4E3E34A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34000"/>
            <a:ext cx="885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이 장표는 Table 6의 semantic proximity 하락을 시각적으로 먼저 이해시키는 용도입니다.</a:t>
            </a:r>
          </a:p>
        </p:txBody>
      </p:sp>
    </p:spTree>
    <p:extLst>
      <p:ext uri="{BB962C8B-B14F-4D97-AF65-F5344CB8AC3E}">
        <p14:creationId xmlns:p14="http://schemas.microsoft.com/office/powerpoint/2010/main" val="18785704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2E052-92F3-4320-BD82-76F23995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256F7-A335-45E0-9BFB-0C53398F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AB06-BCE3-4DD5-BF73-48E4DFB2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07 / 초기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F1FBC-6119-4FA4-94DF-844F3755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3 / Table 4: 저작 시간과 물리 보정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CE664-D5FA-441D-8FF5-0F4C2F09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A55C4-B82D-4E42-93D8-C8A4D1A5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8F6D2-230E-4568-9F79-CF5622A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L461-L482 | Tables 3-4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6BB3C-F0CD-4402-BC4E-43E219F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E8861-88B5-4007-BE40-789E71A7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E93E4-D30E-469F-9266-CEA36A0C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C30A6-C337-4073-A050-317176B5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33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3 평균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295F2-3505-43AA-8BE0-85730AD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78.2% 단축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62DBE-41A5-4A68-A968-926338B2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수동 204분 -&gt; SplatForge 45분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ADE1B-D335-4224-8CEE-D1F13781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D1A80-6D3C-4FBF-B7B8-7A21D3D4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8FF9A-D9C7-4A98-97A3-71E377CD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4 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94E80-FF86-41AD-A0D9-2E66266A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193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-89.7%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74885-4BF2-46AB-91A4-3295E5F9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0.039 m3 -&gt; 0.004 m3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A1C01-6621-4F0C-A348-544AE5D6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872A1-0FB4-4EBD-ACF3-2E0EDB7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62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165BD-98B9-4492-94E7-DE12AB32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Table 4 Grounding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7AA6F-4F4C-449E-B295-693C9951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+32.2%p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B0824-032C-45F6-8D46-BCE06DDD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61.5% -&gt; 93.7%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C9397-8D8A-4983-8A54-B79D6595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Semantic Proximity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387D3-5D39-4373-973F-97F1C67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719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8581A-9972-46B5-8DA2-4D87F220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71925"/>
            <a:ext cx="41109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C11E8-92F9-4E5F-8008-3939C1E8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147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61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861A6"/>
                </a:solidFill>
                <a:latin typeface="Apple SD Gothic Neo"/>
                <a:ea typeface="Apple SD Gothic Neo"/>
                <a:cs typeface="Apple SD Gothic Neo"/>
              </a:rPr>
              <a:t>0.80 -&gt; 0.83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70964-BF9D-4A2E-B82A-2CF91135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Grounding Success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595905-2CA3-4CEE-9687-3A11CB5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E52DAC-A9BA-487E-AB73-16EBD857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76775"/>
            <a:ext cx="464096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C60582-B274-4222-8BDB-F56A7105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196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B8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5B879"/>
                </a:solidFill>
                <a:latin typeface="Apple SD Gothic Neo"/>
                <a:ea typeface="Apple SD Gothic Neo"/>
                <a:cs typeface="Apple SD Gothic Neo"/>
              </a:rPr>
              <a:t>61.5% -&gt; 93.7%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9EA070-F17F-4016-AB2B-E60BAC2A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19750"/>
            <a:ext cx="937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초기 결과의 메시지: 물리 보정은 의미 거리를 크게 바꾸지 않지만, 접지와 안전성을 결정적으로 개선합니다.</a:t>
            </a:r>
          </a:p>
        </p:txBody>
      </p:sp>
    </p:spTree>
    <p:extLst>
      <p:ext uri="{BB962C8B-B14F-4D97-AF65-F5344CB8AC3E}">
        <p14:creationId xmlns:p14="http://schemas.microsoft.com/office/powerpoint/2010/main" val="209771822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D6B13-522D-4C30-BA0B-AB4A85EE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7C910-2243-4B17-8625-C9E72663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2E742-F195-460F-95EF-5EAFB43D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07 / Phase 2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2DBEC-8B1B-4C1B-BA3B-A9795145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4a / 4b: 실 LLM은 배치 품질과 충돌 회피를 개선합니다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53EBC-0A34-44B8-A373-141812C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4EE2E-861C-4E64-8F5F-C8BBD7BD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C8393-78BA-494A-909D-D76D1881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L484-L529 | Tables 4a-4b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116E7-3D12-4CA7-9407-8D75842A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BBC26-A20C-4779-877F-1DE929E3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CBDB9-1B25-4EEE-A735-4527135B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986CC-46B7-42F6-95AD-17856B6D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Floor adhesion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B4A27-C29C-4834-B8E4-6F043CCB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14.29% -&gt; 42.86%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C6847-FDCB-411E-85CC-DD87FF7E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bedroom / office, 약 3.0~3.4x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81B0C-3493-4E58-969A-151E3C88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24F09-A1F0-4277-82E4-07C48EF0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91DB9-F9E3-4778-A4C7-A8F50413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Collision 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F73BD-BAFC-4F35-9B83-A51F8A9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-28% to -60%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107FD-9F3B-4F0A-B048-987C7AF3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36~50건 -&gt; 20~30건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1352D-6B91-4FF2-9C57-9CA9C4E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AAB62-CF45-48DE-AB3A-A735EE1B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A0A52-B056-4223-942E-421194F2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Wall-clock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91E1D-E708-4734-AA6F-90C27F5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009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+4~12%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8FD66-406F-4C4A-8A9B-EF1D5EED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30~103 ms/trial overhead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13A47-D480-44B2-86D2-11C47D98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Bedroom collision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1E90E-FE02-42B8-9FE7-E8071490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433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BCAD7-4CF8-4B11-A861-84B3BB2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43325"/>
            <a:ext cx="178222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BE7D50-89BF-4D9F-AC21-A4B6899F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861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36.0 -&gt; 20.4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10B7FF-A6EB-4FB4-97C1-3198567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Office collision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762A0-B5AC-4E7F-8731-726CE2A9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10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DFACC-D42D-40F9-AA15-5F1B9305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10075"/>
            <a:ext cx="226942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556894-4E58-4D72-A5C7-FC0C1525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529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36.0 -&gt; 26.0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37F003-5D9E-44A8-9CF7-AB5ECB65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0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Living collision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983445-EF16-4A20-A796-D9D8B2B3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7682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9E3BC7-A310-4864-811E-3839745A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768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12F4C8-AF9D-41A1-B76D-F6053A45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0196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50.0 -&gt; 20.0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8AA834-4953-490E-8EB0-A04B83F7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living_room은 floor adhesion / semantic proximity가 실패한 한계 사례로 별도 해석합니다.</a:t>
            </a:r>
          </a:p>
        </p:txBody>
      </p:sp>
    </p:spTree>
    <p:extLst>
      <p:ext uri="{BB962C8B-B14F-4D97-AF65-F5344CB8AC3E}">
        <p14:creationId xmlns:p14="http://schemas.microsoft.com/office/powerpoint/2010/main" val="86400595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3811B7-B0AE-4625-AF2D-6CF6F3FC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15E1E-33F8-4AFE-B294-6B5D0918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FA336-A0F9-4A7B-AC0F-E86AFD8B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07 / 절제 실험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B5A94-9BB0-4C41-8B2E-BDBC0463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6: LLM과 물리 검증은 서로 대체되지 않습니다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30773-BC10-4D60-A532-FED13DD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83D61-761A-4485-B2BD-5A6E42BE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4C7DE-EFFD-48FC-87BB-34C0A324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L533-L551 | Table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56D9E-41E7-4A04-AB1E-584CC9F9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60B5D-7BA8-4F8C-9908-E7A9D44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CE6B9-3906-47F9-BD92-E13EFABD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1F84A-00BE-46C9-820B-5535DFAA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Without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C2E05-1003-4E6F-A3ED-DAD06830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semantic -75~80%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CF307-3BDC-4797-88D8-E1135A05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34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bedroom 0.793 -&gt; 0.188, office 0.674 -&gt; 0.171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A1324-AABE-402C-B37B-225CC819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E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7B604-D805-48E1-8B54-D1678B3F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049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24FB6-E56B-4D03-A3FB-E499193D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76400"/>
            <a:ext cx="3581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Without validator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95A8E-5A6A-4391-9F1F-FF6ED81C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floor adhesion 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AC2ED-B788-485A-8395-0C1DAE01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llm_only 조건은 모든 시나리오에서 접지 실패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A5DE9-9E78-4715-84DC-806384E1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Bedroom full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EB17F-4F96-4C0C-B32C-652FBA0A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052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92A67-FB57-4683-97C0-7112F081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05225"/>
            <a:ext cx="22659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1FA95-81FE-4C22-A8CB-C13DBFF2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480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rPr>
              <a:t>0.793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2D1C8-1D24-4F62-8CA8-BC7730D6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Bedroom random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D83F2-ABA7-4790-A92D-3B2D3E2A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338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3BA335-760E-4FC3-90E0-03E0B3F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33875"/>
            <a:ext cx="5372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78636-52BF-42BD-965F-B07BA04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2767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0.188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6EB07-CDF2-4111-B318-04525AEE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Office full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7CFBF2-4552-48A4-966E-A2071294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339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C4BAF3-5EF6-4445-A72C-F6310A3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33975"/>
            <a:ext cx="192595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DA2CE7-4E23-4DD7-A09C-687E87FC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0768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5AFC4"/>
                </a:solidFill>
                <a:latin typeface="Apple SD Gothic Neo"/>
                <a:ea typeface="Apple SD Gothic Neo"/>
                <a:cs typeface="Apple SD Gothic Neo"/>
              </a:rPr>
              <a:t>0.674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7336E8-A987-4395-A90D-4B0B1EEE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959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Office random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A97847-BAC3-42AB-BCE3-39FB89A6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626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2C8B18-80C7-4B7E-AAE1-A064B7C3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62625"/>
            <a:ext cx="48863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122B13-12F3-48C0-B775-B90DDE26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70547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0.171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960ED-2059-4CAB-A1C4-04372D9E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해석: LLM은 의미 관계를 만들고, LayoutValidator는 좌표를 물리적으로 성립시킵니다.</a:t>
            </a:r>
          </a:p>
        </p:txBody>
      </p:sp>
    </p:spTree>
    <p:extLst>
      <p:ext uri="{BB962C8B-B14F-4D97-AF65-F5344CB8AC3E}">
        <p14:creationId xmlns:p14="http://schemas.microsoft.com/office/powerpoint/2010/main" val="132890265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9A2E8-012C-415A-A831-9A5BEA2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C6E4C-F29A-4AD5-97CB-3E4A5BDC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7E7D7-22F8-4CB5-A3FC-F5D28E0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08 / 논의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D174E-CF77-40EF-AC53-748FCF9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8: 월드 모델과 경쟁보다 계층적 보완 관계입니다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6D941-6590-43F5-921F-9A5F6066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45FD2-7B8A-4C0A-8D8E-7821AA7F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A78F7-4D78-47C9-9488-9715E553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Paper03.md L585-L629 | Table 8,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EF28E-F66F-448E-98A8-A409F292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95977-5E8E-4482-A7EC-9D498985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987AD-A990-448E-9630-DA2450EB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World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329F9-FE57-4A54-894A-9B2B0654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씬 전체를 E2E로 생성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Lyra / Marble / Genie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6E7D5-6C34-4C6E-9E4E-CEC9398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573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2515-BDF6-4FBE-9EAC-C1BF0DA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28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Unity-SplatForge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87A38-34D1-4E86-8DC7-5D053AEF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907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개별 3DGS 에셋을 LLM으로 배치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 물리로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9E71D-7527-4D89-B749-B2DA8E3D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573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A4FEB-89E7-4974-B0CC-8D0C472D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288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Downstream 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02EEF-FBC7-4AB8-B697-8E54ACE3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월드 모델 출력도 에셋 공급원으로 편입 가능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scene graph를 조건 신호로 재사용 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7CE96-252C-4D7A-B8A1-72D2E4A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982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CA08B-87B1-444C-B87A-1A61300D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243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하이브리드 표현의 정당화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7D0AC-6217-408D-AE97-A5638C3E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구조 기하는 ProBuilder mesh로 정확하게, 객체 외관은 3DGS로 실사감 있게, 물리는 proxy collider로 엔진에 연결합니다.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2508C-3BA5-4A3E-AC83-285669BC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941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즉 본 연구의 위치는 'whole-scene generation'이 아니라 'object-level semantic embodiment'입니다.</a:t>
            </a:r>
          </a:p>
        </p:txBody>
      </p:sp>
    </p:spTree>
    <p:extLst>
      <p:ext uri="{BB962C8B-B14F-4D97-AF65-F5344CB8AC3E}">
        <p14:creationId xmlns:p14="http://schemas.microsoft.com/office/powerpoint/2010/main" val="158393785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F2152E-A02E-435E-80A2-A1B68419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31CF5-A749-45BD-96EA-ABC90AC5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47FC3-5E1B-4657-AF82-B6748EC3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09 / 범위 선언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2B8FF-0301-42AA-91A0-D6062B48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약점 방어가 아니라, 연구 대상의 경계입니다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AC425-F96D-431B-89DB-40A47230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C88CE-0975-42F1-B9E1-32E300E1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64FF8-74E2-459A-85FC-CAC944B1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Paper03-thesis-v13.md L177-L185, L225-L238, L647-L667 | 범위 선언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76C5C-10A8-436D-953B-3D89AF3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18645-393B-4BA8-8586-F452742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934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FA85D-6449-48F8-BE17-039EF2CA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47825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“모든 것을 생성했다”가 아니라, 생성된 것을 엔진에서 작동하게 만드는 층위를 검증했습니다.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468A6-B458-411D-A536-DB051338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05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6FB4E-3AAA-480C-86B1-0DAFF8F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하지 않은 주장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FB66B-5350-4152-B0B6-18CD2929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762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DreamGaussian 수준의 text-to-3D 성능 평가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Gaussian-only 전체 장면 구성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완전한 end-to-end world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EE261-E9A9-4E60-AABE-B919A50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3105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4FEC0-F430-4DC7-8865-14243D2A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논문이 실제로 한 주장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32D43-41C6-4E0D-A138-7AE42FD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762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확보된 3DGS 에셋을 엔진 객체로 래핑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LLM 좌표 + Unity 물리 검증 결합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macOS Brush 경로의 재현성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6B86A-84FC-42FC-99A1-86D9961F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105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4F3F5-19F2-42CB-8D1D-671C764C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왜 이 경계가 필요한가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30343-4244-4DDB-B1DE-7A06678F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2762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생성 품질 변수와 배치 검증 변수를 분리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바닥·벽 mesh로 collision 기준면 확보</a:t>
            </a:r>
          </a:p>
          <a:p xmlns:a="http://schemas.openxmlformats.org/drawingml/2006/main">
            <a:pPr algn="l">
              <a:def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월드 모델 출력은 후속 에셋 공급원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3F87B-34F3-48C3-8D9A-65937C88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4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E3CE5-F5F4-4721-A1AB-941C0F99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941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핵심 포지션: text-to-3D generator가 아니라 object-level semantic embodiment layer.</a:t>
            </a:r>
          </a:p>
        </p:txBody>
      </p:sp>
    </p:spTree>
    <p:extLst>
      <p:ext uri="{BB962C8B-B14F-4D97-AF65-F5344CB8AC3E}">
        <p14:creationId xmlns:p14="http://schemas.microsoft.com/office/powerpoint/2010/main" val="110458486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5F5E9-54C6-4DF8-B5D7-8C59EE50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554D1-F0E5-4972-A3D6-46856438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34162-0698-463A-9B2B-00E921FF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10 / 결론과 한계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18A97-8C75-46E9-921F-25E90448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결론은 성립하지만, 후속 연구 지점도 명확합니다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F3948-623E-4B76-9AA0-AA5770B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2C1F1-8061-4B29-84E6-8F7CC6D5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083B0-5F92-405C-A1BE-FC7D6864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Paper03-thesis-v13.md L669-L699 | 결론·한계·전망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0FF30-3449-4BD2-A2BE-DC4F8D09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9BD98-2DF5-4FCA-A690-95BD3B3D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482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7EE40-F135-4E6D-B90C-C86D526B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Conclusion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F9B30-762F-4457-852F-CE37E187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384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Unity-SplatForge는 자연어 공간 설명을 LLM 배치 JSON으로 바꾸고, Unity 물리 검증을 거쳐, 3DGS 기반 객체를 실행 가능한 방으로 조립합니다.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핵심 기여는 생성형 3D와 게임 엔진 실행성 사이의 중간 계층입니다.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8FC59-DFB6-4422-92AA-601F89BD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35A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B55F4-A66F-42E1-83BF-35BF2ADE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52575"/>
            <a:ext cx="441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L1 복잡한 기하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8C869-DC6F-4882-B6A0-75E94E1B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859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L자형 방, 로프트 등은 VLM feedback loop 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81E4E-885A-48BB-B0EB-070F0070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86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730A6-9F19-414B-AF2A-664ED669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47925"/>
            <a:ext cx="441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L2 living_room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9EABF-F371-40D8-BBE6-3454CE2C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자산 카탈로그, FBX 피벗, 좁은 공간 밀도 문제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98CA4-590A-4FB6-AF77-11864939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7861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5BE33-0C8E-4BDB-8617-83926E70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43275"/>
            <a:ext cx="441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L3 static 3DGS physics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80D1A-3AC4-4AE6-9927-6233213F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proxy collider 경로. PhysGaussian / GASP 성숙 시 확장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8908F-CF18-4D70-82EC-A65D8482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EEB8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51F02-4F3D-4B60-BFC7-5BC696EF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38625"/>
            <a:ext cx="441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L4 render automation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9D613-3908-47D2-A251-23AD191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HDRP batchmode cleared buffer, URP composite 한계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810E0-7655-4D19-95C6-964697D8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5B87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58083-A889-4EB9-8C4D-075A8896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33975"/>
            <a:ext cx="4419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L5 scale and feed-forward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9CDA0-E23A-47AC-A1F4-3BBA2761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6735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LOD / streaming / DUSt3R / MASt3R / InstantSplat 후속 비교</a:t>
            </a:r>
          </a:p>
        </p:txBody>
      </p:sp>
    </p:spTree>
    <p:extLst>
      <p:ext uri="{BB962C8B-B14F-4D97-AF65-F5344CB8AC3E}">
        <p14:creationId xmlns:p14="http://schemas.microsoft.com/office/powerpoint/2010/main" val="200957588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3BBC8C-3678-43D4-AE2A-2A72E0FB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C1654-41C3-4D86-A75C-07A70F9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0B767-3ABD-4533-9949-1C342461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305EB-B34C-4B21-B0E4-D978897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Unity-SplatForge / Paper03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90EE9-90B6-476A-B697-734E9BD9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D6C8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D776D-50E6-4A20-92A9-6DD9B8D7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058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p.— | Paper03-thesis-v13.md L681-L699 | 피드백 논점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07DB9-E767-4B4B-ACFD-7EF18AF4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A6258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2FDE3-2EA9-48C2-86F2-06F0A892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647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질문과 피드백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2C815-A090-4064-B83B-E46A5D0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628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86A5A"/>
                </a:solidFill>
                <a:latin typeface="Apple SD Gothic Neo"/>
                <a:ea typeface="Apple SD Gothic Neo"/>
                <a:cs typeface="Apple SD Gothic Neo"/>
              </a:rPr>
              <a:t>어느 층위를 더 강화해야 할까요?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EF5B7-7752-4EA4-A9D4-5BF8C12D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814C0-2D01-4DF6-BA67-83D4AD7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EB8BF-9315-41C1-956D-3A79E99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43225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LLM 배치와 LayoutValidator의 책임 분리는 설득력 있는가?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FBC2C-975C-42F0-B991-0EF952B1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7507F-D0A5-432D-80A6-C775A393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33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18F2E-6920-4FE9-BCA3-C9970BB5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86175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Table 4a/4b/6의 결과 요약이 충분히 선명한가?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32007-7096-4687-84E2-9DD0FD10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9E013-B5F2-45A5-964F-A203588A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1DD76-4678-4799-B5F3-E81A7D70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범위 선언이 약점 방어가 아니라 연구 경계로 읽히는가?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7AE87-51B1-4CFF-80DE-D92BED1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6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A9125-DE35-4829-A49E-1D0D0A5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292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후속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A1E0E-D739-45E7-9DA1-3CF4A4D0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72075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51515"/>
                </a:solidFill>
                <a:latin typeface="Apple SD Gothic Neo"/>
                <a:ea typeface="Apple SD Gothic Neo"/>
                <a:cs typeface="Apple SD Gothic Neo"/>
              </a:rPr>
              <a:t>VLM feedback loop, URP patch, feed-forward 3DGS 중 무엇이 우선인가?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CA44A3-D67F-4AA7-B3B4-B1092734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90600"/>
            <a:ext cx="2457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1DC5A-5FBE-4174-9DEB-7B98E171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525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Unity-SplatForge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5DA2F-D23A-4321-BACD-DA2650F7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EEE6D8"/>
                </a:solidFill>
                <a:latin typeface="Apple SD Gothic Neo"/>
                <a:ea typeface="Apple SD Gothic Neo"/>
                <a:cs typeface="Apple SD Gothic Neo"/>
              </a:rPr>
              <a:t>object-level semantic embodiment</a:t>
            </a:r>
          </a:p>
        </p:txBody>
      </p:sp>
    </p:spTree>
    <p:extLst>
      <p:ext uri="{BB962C8B-B14F-4D97-AF65-F5344CB8AC3E}">
        <p14:creationId xmlns:p14="http://schemas.microsoft.com/office/powerpoint/2010/main" val="1497719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2026-05-27T01:08:38.0920000Z</dcterms:created>
  <dcterms:modified xsi:type="dcterms:W3CDTF">2026-05-27T01:08:38.0920000Z</dcterms:modified>
</coreProperties>
</file>